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57" r:id="rId4"/>
    <p:sldId id="258" r:id="rId5"/>
    <p:sldId id="264" r:id="rId6"/>
    <p:sldId id="266" r:id="rId7"/>
    <p:sldId id="267" r:id="rId8"/>
    <p:sldId id="268" r:id="rId9"/>
    <p:sldId id="269" r:id="rId10"/>
    <p:sldId id="259" r:id="rId11"/>
    <p:sldId id="260" r:id="rId12"/>
    <p:sldId id="261" r:id="rId13"/>
    <p:sldId id="262" r:id="rId14"/>
    <p:sldId id="272" r:id="rId15"/>
    <p:sldId id="273" r:id="rId16"/>
    <p:sldId id="270" r:id="rId17"/>
    <p:sldId id="27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7A792-8388-A709-C5DA-6AAFD6CA5D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E7A011-25CA-903A-7C9E-4909D4D639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F8E4D6-322C-EDD5-BAE4-2025D7EFC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AE2BE-48EF-410D-8D61-53BC715B8EC0}" type="datetimeFigureOut">
              <a:rPr lang="en-US" smtClean="0"/>
              <a:t>2025-05-18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A3ED05-61D3-BE7A-B292-7E5E74583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FDD81A-A6D1-6DD6-893C-ADD13CF11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65881-5334-40D4-8FDB-7936CDB52E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725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F36B2-04E5-19AB-E102-987554866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236152-7E53-4614-D0C7-306A40D200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668B0B-20F9-C7C0-1738-3523D2C8A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AE2BE-48EF-410D-8D61-53BC715B8EC0}" type="datetimeFigureOut">
              <a:rPr lang="en-US" smtClean="0"/>
              <a:t>2025-05-18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A487F9-F57E-1BF2-8CC5-F78492886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CAA8ED-6F4E-99A8-5386-8183B937C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65881-5334-40D4-8FDB-7936CDB52E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258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62F45-DC78-15C7-32D3-08F3936EA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A5318D-825B-B139-5DB8-033851BCC3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FA124C-1156-19ED-4703-FEBEBBFE4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AE2BE-48EF-410D-8D61-53BC715B8EC0}" type="datetimeFigureOut">
              <a:rPr lang="en-US" smtClean="0"/>
              <a:t>2025-05-18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C2749-72EE-F990-06D5-61C307F70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5FDB46-3BD7-3029-6274-F23104538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65881-5334-40D4-8FDB-7936CDB52E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24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B2504-234C-0034-508C-525C37CE2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DFD378-B528-4851-8FD3-7848F868EF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FA1F83-49DD-51F5-ED8E-0FD09C34D0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FDB86E-3022-F92B-F5CE-FA87BCA7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AE2BE-48EF-410D-8D61-53BC715B8EC0}" type="datetimeFigureOut">
              <a:rPr lang="en-US" smtClean="0"/>
              <a:t>2025-05-18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9C8444-29CB-EB10-5839-E1D9C04EA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B71FC4-61A3-F31E-8D7F-C983F0756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65881-5334-40D4-8FDB-7936CDB52E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738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8371E-3AA6-09CD-B874-00FD7389F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F17405-76C9-8386-03DB-911DF33ECD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34FE4B-4609-41C6-C74D-AABDAC3B90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98854F-318D-69B2-8A6C-34AD1D1BE1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63102A-F5DB-3FFC-59BF-5EEB4410A2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7A8963-6F48-EA11-7ECE-1F5C036DC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AE2BE-48EF-410D-8D61-53BC715B8EC0}" type="datetimeFigureOut">
              <a:rPr lang="en-US" smtClean="0"/>
              <a:t>2025-05-18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635A44-9C15-A44D-C04A-5A194FD92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E4F724-50C6-F904-9AE9-2EFF13F01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65881-5334-40D4-8FDB-7936CDB52E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5752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AA96A-9315-B748-FB9A-C5DFF5CDC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ED713A-D5EA-4E03-A7D9-4E458B7AA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AE2BE-48EF-410D-8D61-53BC715B8EC0}" type="datetimeFigureOut">
              <a:rPr lang="en-US" smtClean="0"/>
              <a:t>2025-05-18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12D505-AF2B-E841-920C-264293F3F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463765-0A25-5B35-11E6-E48F838D6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65881-5334-40D4-8FDB-7936CDB52E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0604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A431A4-77A3-6C10-88B0-29E43A1EF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AE2BE-48EF-410D-8D61-53BC715B8EC0}" type="datetimeFigureOut">
              <a:rPr lang="en-US" smtClean="0"/>
              <a:t>2025-05-18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78242E-CF51-953A-36D8-3BF2C0BC2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47F329-D469-F6ED-E993-97FB01E9E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65881-5334-40D4-8FDB-7936CDB52E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1881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FE53F-BA1D-BA15-427D-F7224B5FB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811082-068D-7105-B7C5-F4C3B65A4C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EE9564-50E4-8C36-5480-C3EC205EFC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5D84E4-0A84-72D4-FACA-0362B3EA8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AE2BE-48EF-410D-8D61-53BC715B8EC0}" type="datetimeFigureOut">
              <a:rPr lang="en-US" smtClean="0"/>
              <a:t>2025-05-18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96D738-9067-8869-A314-4D1D23465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5CB1ED-5EB6-AD03-98CA-9D7C13966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65881-5334-40D4-8FDB-7936CDB52E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524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94CC0-8E53-8169-E835-B22B87018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96DBDF-A63B-B940-D8E2-5CEB1B67D6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D584AB-8EDC-49B2-1ED1-9586007A51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CD44DA-2840-2E2C-9F3A-AA16B30EB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AE2BE-48EF-410D-8D61-53BC715B8EC0}" type="datetimeFigureOut">
              <a:rPr lang="en-US" smtClean="0"/>
              <a:t>2025-05-18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4487F3-619E-60FD-D53E-FF623B018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6A0640-22B1-0A61-F128-9F696DB83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65881-5334-40D4-8FDB-7936CDB52E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232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B9EDA-C83B-ECFD-D3D9-F4F1CF9A2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4D1859-73A3-68B3-C655-75A681842C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A31C93-0B64-4093-8F4B-9D07F05CE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AE2BE-48EF-410D-8D61-53BC715B8EC0}" type="datetimeFigureOut">
              <a:rPr lang="en-US" smtClean="0"/>
              <a:t>2025-05-18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84ED0B-A157-210A-6066-BD34F0228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7E8CE6-57E3-083C-6FE4-183CD8F36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65881-5334-40D4-8FDB-7936CDB52E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3699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336ECF-6A01-1873-267E-26D2CA70ED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01A8F1-C3E4-6BE4-31FB-F002BDABA7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97AAD2-8919-0E65-C56D-25568F01B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AE2BE-48EF-410D-8D61-53BC715B8EC0}" type="datetimeFigureOut">
              <a:rPr lang="en-US" smtClean="0"/>
              <a:t>2025-05-18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CBF914-684C-3F0A-254B-66E17F096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737807-5479-C2C2-19A1-1FD1D5A79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65881-5334-40D4-8FDB-7936CDB52E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685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35B1A5-062E-976D-3EE7-24F708AC7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583EFC-02E4-5A54-ECB9-EBE10B691A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77D6EF-C7F5-882C-05C2-E2E71BFA2A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7AE2BE-48EF-410D-8D61-53BC715B8EC0}" type="datetimeFigureOut">
              <a:rPr lang="en-US" smtClean="0"/>
              <a:t>2025-05-18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EF5981-59D6-789B-A597-C959E90A13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0EDDB3-C765-654E-9CB0-CEAB147F84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265881-5334-40D4-8FDB-7936CDB52E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390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pmhalvor@uio.no" TargetMode="External"/><Relationship Id="rId2" Type="http://schemas.openxmlformats.org/officeDocument/2006/relationships/hyperlink" Target="https://storymaps.arcgis.com/stories/fea309e1ff5c4f06a2aecd63dfda84e1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www.google.com/maps/d/viewer?mid=1oO7FZepl8zXxKmx22yV91LUd1KZgYkU_&amp;ll=59.9189196069674%2C10.75298007386504&amp;z=14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arcg.is/114PDX1" TargetMode="External"/><Relationship Id="rId7" Type="http://schemas.openxmlformats.org/officeDocument/2006/relationships/hyperlink" Target="https://www.google.com/maps/d/viewer?mid=1oO7FZepl8zXxKmx22yV91LUd1KZgYkU_&amp;ll=59.9189196069674%2C10.75298007386504&amp;z=14" TargetMode="External"/><Relationship Id="rId2" Type="http://schemas.openxmlformats.org/officeDocument/2006/relationships/hyperlink" Target="https://github.com/pmhalvor/geo4460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kartkatalog.geonorge.no/metadata/n50-kartdata/ea192681-d039-42ec-b1bc-f3ce04c189ac" TargetMode="External"/><Relationship Id="rId5" Type="http://schemas.openxmlformats.org/officeDocument/2006/relationships/hyperlink" Target="https://trafikkdata.atlas.vegvesen.no/" TargetMode="External"/><Relationship Id="rId4" Type="http://schemas.openxmlformats.org/officeDocument/2006/relationships/hyperlink" Target="https://developers.strava.com/docs/reference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17759-5F43-534F-80C3-F5E63A870A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Further Improving Oslo’s Cycling Infrastructure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F87A92-A694-27FC-CA5B-E0029853FD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67214"/>
            <a:ext cx="9144000" cy="1655762"/>
          </a:xfrm>
        </p:spPr>
        <p:txBody>
          <a:bodyPr/>
          <a:lstStyle/>
          <a:p>
            <a:pPr algn="l"/>
            <a:r>
              <a:rPr lang="en-US" dirty="0"/>
              <a:t>A </a:t>
            </a:r>
            <a:r>
              <a:rPr lang="en-US" dirty="0">
                <a:hlinkClick r:id="rId2"/>
              </a:rPr>
              <a:t>suitability analysis </a:t>
            </a:r>
            <a:r>
              <a:rPr lang="en-US" dirty="0"/>
              <a:t>for GEO4460</a:t>
            </a:r>
          </a:p>
          <a:p>
            <a:pPr algn="l"/>
            <a:r>
              <a:rPr lang="en-US" dirty="0"/>
              <a:t>by Per Halvorsen </a:t>
            </a:r>
          </a:p>
          <a:p>
            <a:pPr algn="l"/>
            <a:r>
              <a:rPr lang="en-US" dirty="0">
                <a:hlinkClick r:id="rId3"/>
              </a:rPr>
              <a:t>pmhalvor@uio.no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913968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D0346-1420-4D5D-67B4-2992203BF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7B852C-632A-72B2-5445-A423CE0E5F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Goal</a:t>
            </a:r>
          </a:p>
          <a:p>
            <a:r>
              <a:rPr lang="en-US" dirty="0"/>
              <a:t>Data</a:t>
            </a:r>
          </a:p>
          <a:p>
            <a:r>
              <a:rPr lang="en-US" dirty="0"/>
              <a:t>Criteria</a:t>
            </a:r>
          </a:p>
          <a:p>
            <a:r>
              <a:rPr lang="en-US" dirty="0"/>
              <a:t>Development</a:t>
            </a:r>
          </a:p>
          <a:p>
            <a:r>
              <a:rPr lang="en-US" dirty="0"/>
              <a:t>Discussion</a:t>
            </a:r>
          </a:p>
          <a:p>
            <a:r>
              <a:rPr lang="en-US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37594852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775CC-E90F-2D4A-A1ED-509072E09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C5FAC-018E-F715-7C58-7C74FC4AC6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7900" y="3008376"/>
            <a:ext cx="7791450" cy="2116074"/>
          </a:xfrm>
        </p:spPr>
        <p:txBody>
          <a:bodyPr/>
          <a:lstStyle/>
          <a:p>
            <a:pPr marL="0" indent="0" algn="ctr">
              <a:buNone/>
            </a:pPr>
            <a:r>
              <a:rPr lang="en-US" b="1" i="1" dirty="0"/>
              <a:t>Can we use publicly available data to improve cycling conditions routes around Oslo?</a:t>
            </a:r>
          </a:p>
        </p:txBody>
      </p:sp>
    </p:spTree>
    <p:extLst>
      <p:ext uri="{BB962C8B-B14F-4D97-AF65-F5344CB8AC3E}">
        <p14:creationId xmlns:p14="http://schemas.microsoft.com/office/powerpoint/2010/main" val="6672748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A9714-0B84-1A5A-B7C6-EB0370B65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15A571-C3C2-0E57-20DE-AECDD7AFEA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-US" b="0" i="0" dirty="0">
                <a:effectLst/>
              </a:rPr>
              <a:t>Strava API</a:t>
            </a:r>
            <a:endParaRPr lang="en-US" dirty="0"/>
          </a:p>
          <a:p>
            <a:pPr lvl="1"/>
            <a:r>
              <a:rPr lang="en-US" b="0" i="0" dirty="0">
                <a:effectLst/>
              </a:rPr>
              <a:t>Segments</a:t>
            </a:r>
            <a:endParaRPr lang="en-US" dirty="0"/>
          </a:p>
          <a:p>
            <a:pPr lvl="1"/>
            <a:r>
              <a:rPr lang="en-US" b="0" i="0" dirty="0">
                <a:effectLst/>
              </a:rPr>
              <a:t>Activities</a:t>
            </a:r>
            <a:endParaRPr lang="en-US" dirty="0"/>
          </a:p>
          <a:p>
            <a:r>
              <a:rPr lang="en-US" b="0" i="0" dirty="0">
                <a:effectLst/>
              </a:rPr>
              <a:t>Statens Vegvesen Traﬀic Data</a:t>
            </a:r>
            <a:endParaRPr lang="en-US" dirty="0"/>
          </a:p>
          <a:p>
            <a:r>
              <a:rPr lang="en-US" b="0" i="0" dirty="0">
                <a:effectLst/>
              </a:rPr>
              <a:t>Kartverkets N50 Data</a:t>
            </a:r>
            <a:endParaRPr lang="en-US" dirty="0"/>
          </a:p>
          <a:p>
            <a:r>
              <a:rPr lang="en-US" b="0" i="0" dirty="0">
                <a:effectLst/>
              </a:rPr>
              <a:t>Sykkel ruter i Oslo (Oslo Kommune)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10298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map&#10;&#10;AI-generated content may be incorrect.">
            <a:extLst>
              <a:ext uri="{FF2B5EF4-FFF2-40B4-BE49-F238E27FC236}">
                <a16:creationId xmlns:a16="http://schemas.microsoft.com/office/drawing/2014/main" id="{6474AADC-2D53-A5C2-5EE7-BB89C15502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2239" y="365125"/>
            <a:ext cx="7984911" cy="6348133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7762054-DBC2-5F82-8B0E-02A08D22A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Sources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82A23FC-A03F-A477-5B25-6CBC7CAA3996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Segments</a:t>
            </a:r>
          </a:p>
        </p:txBody>
      </p:sp>
    </p:spTree>
    <p:extLst>
      <p:ext uri="{BB962C8B-B14F-4D97-AF65-F5344CB8AC3E}">
        <p14:creationId xmlns:p14="http://schemas.microsoft.com/office/powerpoint/2010/main" val="35530380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AD095-A129-590C-EA50-8AC1BDF58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0E585-BB63-4E30-166B-CED8EEEDF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Sources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973B421-5F31-5FA4-BB83-81B9C72F606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Activities</a:t>
            </a:r>
          </a:p>
        </p:txBody>
      </p:sp>
      <p:pic>
        <p:nvPicPr>
          <p:cNvPr id="8" name="Content Placeholder 7" descr="A map of the world&#10;&#10;AI-generated content may be incorrect.">
            <a:extLst>
              <a:ext uri="{FF2B5EF4-FFF2-40B4-BE49-F238E27FC236}">
                <a16:creationId xmlns:a16="http://schemas.microsoft.com/office/drawing/2014/main" id="{CE890F92-59E3-0E77-5069-6050A9C340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473" y="2447926"/>
            <a:ext cx="11457054" cy="3930650"/>
          </a:xfrm>
        </p:spPr>
      </p:pic>
    </p:spTree>
    <p:extLst>
      <p:ext uri="{BB962C8B-B14F-4D97-AF65-F5344CB8AC3E}">
        <p14:creationId xmlns:p14="http://schemas.microsoft.com/office/powerpoint/2010/main" val="27134854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F5346-1742-51AC-63A0-24585FA3F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E033A-CA76-2B53-A0C7-7D7999594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Sources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84BB7A5-C053-092D-35A5-F393FA478A81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Traffic</a:t>
            </a:r>
          </a:p>
        </p:txBody>
      </p:sp>
      <p:pic>
        <p:nvPicPr>
          <p:cNvPr id="8" name="Content Placeholder 7" descr="A close-up of a colorful background&#10;&#10;AI-generated content may be incorrect.">
            <a:extLst>
              <a:ext uri="{FF2B5EF4-FFF2-40B4-BE49-F238E27FC236}">
                <a16:creationId xmlns:a16="http://schemas.microsoft.com/office/drawing/2014/main" id="{1675998D-03B0-33E5-8108-863A66BBC8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650" y="2629107"/>
            <a:ext cx="11858625" cy="3372121"/>
          </a:xfrm>
        </p:spPr>
      </p:pic>
    </p:spTree>
    <p:extLst>
      <p:ext uri="{BB962C8B-B14F-4D97-AF65-F5344CB8AC3E}">
        <p14:creationId xmlns:p14="http://schemas.microsoft.com/office/powerpoint/2010/main" val="33440945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05C48-569D-DDC6-6EE2-E901BF798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850AE-1376-AC12-3FFE-07638EEB0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Sources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197E8C8-0FEF-AA1F-E7B8-36616B1E545F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Elevation</a:t>
            </a:r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5924B77-2E91-03EE-4CC4-0CB8A0846E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385" y="2616077"/>
            <a:ext cx="11737229" cy="3560886"/>
          </a:xfrm>
        </p:spPr>
      </p:pic>
    </p:spTree>
    <p:extLst>
      <p:ext uri="{BB962C8B-B14F-4D97-AF65-F5344CB8AC3E}">
        <p14:creationId xmlns:p14="http://schemas.microsoft.com/office/powerpoint/2010/main" val="23541129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76265-D70D-E02F-63D2-4184F6143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25840-C22D-3610-F28A-765C84500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Sources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11D5A5D-B901-467A-A695-F35E8B5AE1F6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Sykkelruter i Oslo</a:t>
            </a:r>
          </a:p>
          <a:p>
            <a:pPr marL="0" indent="0">
              <a:buNone/>
            </a:pPr>
            <a:r>
              <a:rPr lang="en-US" dirty="0"/>
              <a:t>(</a:t>
            </a:r>
            <a:r>
              <a:rPr lang="en-US" dirty="0">
                <a:hlinkClick r:id="rId2"/>
              </a:rPr>
              <a:t>link</a:t>
            </a:r>
            <a:r>
              <a:rPr lang="en-US" dirty="0"/>
              <a:t>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479DAB1-D3C2-6819-543C-52D63FB6D4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5294" y="890193"/>
            <a:ext cx="6928506" cy="5405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8657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E4C70-D5AF-3332-8D98-837FF9FD7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Criteria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AF4320-AC21-E3E8-BF72-F95F364D41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Popular public segment on Strava</a:t>
            </a:r>
          </a:p>
          <a:p>
            <a:r>
              <a:rPr lang="en-US" dirty="0"/>
              <a:t>No current bike lane overlapping segment</a:t>
            </a:r>
          </a:p>
          <a:p>
            <a:r>
              <a:rPr lang="en-US" dirty="0"/>
              <a:t>High average speed from single-user’s activities</a:t>
            </a:r>
          </a:p>
          <a:p>
            <a:r>
              <a:rPr lang="en-US" dirty="0"/>
              <a:t>High traffic</a:t>
            </a:r>
          </a:p>
          <a:p>
            <a:r>
              <a:rPr lang="en-US" dirty="0"/>
              <a:t>Low cost (low slope/incline, drivable road, high speed)</a:t>
            </a:r>
          </a:p>
        </p:txBody>
      </p:sp>
    </p:spTree>
    <p:extLst>
      <p:ext uri="{BB962C8B-B14F-4D97-AF65-F5344CB8AC3E}">
        <p14:creationId xmlns:p14="http://schemas.microsoft.com/office/powerpoint/2010/main" val="13418195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79B6F-906F-C8C2-1128-5296815AF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43517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dirty="0"/>
              <a:t>Flowchart</a:t>
            </a:r>
          </a:p>
        </p:txBody>
      </p:sp>
      <p:pic>
        <p:nvPicPr>
          <p:cNvPr id="5" name="Content Placeholder 4" descr="A black and white diagram&#10;&#10;AI-generated content may be incorrect.">
            <a:extLst>
              <a:ext uri="{FF2B5EF4-FFF2-40B4-BE49-F238E27FC236}">
                <a16:creationId xmlns:a16="http://schemas.microsoft.com/office/drawing/2014/main" id="{D8741E2B-0B9B-75FD-08C2-BE0AB5D0DD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222" y="49514"/>
            <a:ext cx="5372078" cy="6713235"/>
          </a:xfr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9584DFE0-4930-BE1C-CEE1-12019E0E92D6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Criteria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26518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6D91F-3679-E586-9A65-DE15D312A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Development: filtering and analyzing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0A7DAD-C2C0-B9DC-F3C4-44F093897A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Thresholds from empirical interpretation</a:t>
            </a:r>
          </a:p>
          <a:p>
            <a:r>
              <a:rPr lang="en-US" dirty="0"/>
              <a:t>Stricter thresholds to only keep most important segments</a:t>
            </a:r>
          </a:p>
          <a:p>
            <a:r>
              <a:rPr lang="en-US" dirty="0"/>
              <a:t>Control against domain knowledge</a:t>
            </a:r>
          </a:p>
          <a:p>
            <a:r>
              <a:rPr lang="en-US" dirty="0"/>
              <a:t>Agree with results along the way?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98579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DECDF-D05C-7C57-7DC9-960A317E5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Development: bugs and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DA1BEC-C346-AD33-BA46-23B2817A1A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Programmatic reproducibility</a:t>
            </a:r>
          </a:p>
          <a:p>
            <a:r>
              <a:rPr lang="en-US" dirty="0"/>
              <a:t>Software licensing </a:t>
            </a:r>
          </a:p>
          <a:p>
            <a:r>
              <a:rPr lang="en-US" dirty="0"/>
              <a:t>Visualizing intermediate results</a:t>
            </a:r>
          </a:p>
          <a:p>
            <a:r>
              <a:rPr lang="en-US" dirty="0"/>
              <a:t>Coordinate system synchronization</a:t>
            </a:r>
          </a:p>
          <a:p>
            <a:r>
              <a:rPr lang="en-US" dirty="0"/>
              <a:t>Limitation of open-source algorithms</a:t>
            </a:r>
          </a:p>
          <a:p>
            <a:r>
              <a:rPr lang="en-US" dirty="0"/>
              <a:t>“Fair” normalization of raster values</a:t>
            </a:r>
          </a:p>
        </p:txBody>
      </p:sp>
    </p:spTree>
    <p:extLst>
      <p:ext uri="{BB962C8B-B14F-4D97-AF65-F5344CB8AC3E}">
        <p14:creationId xmlns:p14="http://schemas.microsoft.com/office/powerpoint/2010/main" val="42594520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38BD6-5ACE-F047-F106-77CA9CFE1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pic>
        <p:nvPicPr>
          <p:cNvPr id="5" name="Content Placeholder 4" descr="A screenshot of a map&#10;&#10;AI-generated content may be incorrect.">
            <a:extLst>
              <a:ext uri="{FF2B5EF4-FFF2-40B4-BE49-F238E27FC236}">
                <a16:creationId xmlns:a16="http://schemas.microsoft.com/office/drawing/2014/main" id="{0652D95B-5E4A-A9AA-0FE4-A8EAED69AE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3901" y="1294606"/>
            <a:ext cx="9504198" cy="5073337"/>
          </a:xfrm>
        </p:spPr>
      </p:pic>
    </p:spTree>
    <p:extLst>
      <p:ext uri="{BB962C8B-B14F-4D97-AF65-F5344CB8AC3E}">
        <p14:creationId xmlns:p14="http://schemas.microsoft.com/office/powerpoint/2010/main" val="30409705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F7B51-C57F-005E-DBBE-AC3C02423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1B463-7390-92A2-5A98-277D0987E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pic>
        <p:nvPicPr>
          <p:cNvPr id="7" name="Content Placeholder 6" descr="A screenshot of a map&#10;&#10;AI-generated content may be incorrect.">
            <a:extLst>
              <a:ext uri="{FF2B5EF4-FFF2-40B4-BE49-F238E27FC236}">
                <a16:creationId xmlns:a16="http://schemas.microsoft.com/office/drawing/2014/main" id="{AAF96AAD-E3B4-0AFA-7C16-3DF4BD82E8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801" y="1546225"/>
            <a:ext cx="11108835" cy="4946650"/>
          </a:xfrm>
        </p:spPr>
      </p:pic>
    </p:spTree>
    <p:extLst>
      <p:ext uri="{BB962C8B-B14F-4D97-AF65-F5344CB8AC3E}">
        <p14:creationId xmlns:p14="http://schemas.microsoft.com/office/powerpoint/2010/main" val="38138555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2A71F-0278-17BB-6C8E-D29066724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617637-AD53-79DA-1CD4-229C1B3F00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Weights versus thresholding</a:t>
            </a:r>
          </a:p>
          <a:p>
            <a:r>
              <a:rPr lang="en-US" dirty="0"/>
              <a:t>Polylines to buffer for proper differences</a:t>
            </a:r>
          </a:p>
          <a:p>
            <a:r>
              <a:rPr lang="en-US" dirty="0"/>
              <a:t>Raster for DEM </a:t>
            </a:r>
          </a:p>
          <a:p>
            <a:r>
              <a:rPr lang="en-US" dirty="0"/>
              <a:t>Cost: double use of layers (roads and speed)</a:t>
            </a:r>
          </a:p>
          <a:p>
            <a:r>
              <a:rPr lang="en-US" dirty="0"/>
              <a:t>Data bias: </a:t>
            </a:r>
          </a:p>
          <a:p>
            <a:pPr lvl="1"/>
            <a:r>
              <a:rPr lang="en-US" dirty="0"/>
              <a:t>Single user activities</a:t>
            </a:r>
          </a:p>
          <a:p>
            <a:pPr lvl="1"/>
            <a:r>
              <a:rPr lang="en-US" dirty="0"/>
              <a:t>Limited segment downloads</a:t>
            </a:r>
          </a:p>
          <a:p>
            <a:pPr lvl="1"/>
            <a:r>
              <a:rPr lang="en-US" dirty="0"/>
              <a:t>Traffic stations on highways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74218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81C9B-5CE1-0A79-8688-1D07826EC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76FD26-47DE-E9CE-5DB4-BA44959377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Source code: </a:t>
            </a:r>
            <a:r>
              <a:rPr lang="en-US" dirty="0">
                <a:hlinkClick r:id="rId2"/>
              </a:rPr>
              <a:t>https://github.com/pmhalvor/geo4460/</a:t>
            </a:r>
            <a:r>
              <a:rPr lang="en-US" dirty="0"/>
              <a:t> </a:t>
            </a:r>
          </a:p>
          <a:p>
            <a:r>
              <a:rPr lang="en-US" dirty="0"/>
              <a:t>Story Map: </a:t>
            </a:r>
            <a:r>
              <a:rPr lang="en-US" dirty="0">
                <a:hlinkClick r:id="rId3"/>
              </a:rPr>
              <a:t>https://arcg.is/114PDX1</a:t>
            </a:r>
            <a:endParaRPr lang="en-US" dirty="0"/>
          </a:p>
          <a:p>
            <a:r>
              <a:rPr lang="en-US" dirty="0"/>
              <a:t>Strava API: </a:t>
            </a:r>
            <a:r>
              <a:rPr lang="en-US" dirty="0">
                <a:hlinkClick r:id="rId4"/>
              </a:rPr>
              <a:t>https://developers.strava.com/docs/reference/</a:t>
            </a:r>
            <a:r>
              <a:rPr lang="en-US" dirty="0"/>
              <a:t> </a:t>
            </a:r>
          </a:p>
          <a:p>
            <a:r>
              <a:rPr lang="en-US" dirty="0"/>
              <a:t>Statens Vegvesen API: </a:t>
            </a:r>
            <a:r>
              <a:rPr lang="en-US" dirty="0">
                <a:hlinkClick r:id="rId5"/>
              </a:rPr>
              <a:t>https://trafikkdata.atlas.vegvesen.no/</a:t>
            </a:r>
            <a:r>
              <a:rPr lang="en-US" dirty="0"/>
              <a:t> </a:t>
            </a:r>
          </a:p>
          <a:p>
            <a:r>
              <a:rPr lang="en-US" dirty="0"/>
              <a:t>N50 Map Data: </a:t>
            </a:r>
            <a:r>
              <a:rPr lang="en-US" dirty="0">
                <a:hlinkClick r:id="rId6"/>
              </a:rPr>
              <a:t>https://kartkatalog.geonorge.no/metadata/n50-kartdata/ea192681-d039-42ec-b1bc-f3ce04c189ac</a:t>
            </a:r>
            <a:r>
              <a:rPr lang="en-US" dirty="0"/>
              <a:t> </a:t>
            </a:r>
          </a:p>
          <a:p>
            <a:r>
              <a:rPr lang="en-US" dirty="0"/>
              <a:t>Sykkel ruter i Oslo (Oslo Kommune): </a:t>
            </a:r>
            <a:r>
              <a:rPr lang="en-US" dirty="0">
                <a:hlinkClick r:id="rId7"/>
              </a:rPr>
              <a:t>https://www.google.com/maps/d/viewer?mid=1oO7FZepl8zXxKmx22yV91LUd1KZgYkU_&amp;ll=59.9189196069674%2C10.75298007386504&amp;z=14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85102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313</Words>
  <Application>Microsoft Office PowerPoint</Application>
  <PresentationFormat>Widescreen</PresentationFormat>
  <Paragraphs>69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Further Improving Oslo’s Cycling Infrastructure</vt:lpstr>
      <vt:lpstr>Overview</vt:lpstr>
      <vt:lpstr>Goal</vt:lpstr>
      <vt:lpstr>Data Sources</vt:lpstr>
      <vt:lpstr>Data Sources</vt:lpstr>
      <vt:lpstr>Data Sources</vt:lpstr>
      <vt:lpstr>Data Sources</vt:lpstr>
      <vt:lpstr>Data Sources</vt:lpstr>
      <vt:lpstr>Data Sources</vt:lpstr>
      <vt:lpstr>Criteria</vt:lpstr>
      <vt:lpstr>Flowchart</vt:lpstr>
      <vt:lpstr>Development: filtering and analyzing</vt:lpstr>
      <vt:lpstr>Development: bugs and problems</vt:lpstr>
      <vt:lpstr>Results</vt:lpstr>
      <vt:lpstr>Results</vt:lpstr>
      <vt:lpstr>Discussion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Per Morten Halvorsen</dc:creator>
  <cp:lastModifiedBy>Per Morten Halvorsen</cp:lastModifiedBy>
  <cp:revision>2</cp:revision>
  <dcterms:created xsi:type="dcterms:W3CDTF">2025-05-18T19:56:37Z</dcterms:created>
  <dcterms:modified xsi:type="dcterms:W3CDTF">2025-05-18T21:06:35Z</dcterms:modified>
</cp:coreProperties>
</file>